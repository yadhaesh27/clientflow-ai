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EE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65760"/>
            <a:ext cx="3108960" cy="3108960"/>
          </a:xfrm>
          <a:prstGeom prst="ellipse">
            <a:avLst/>
          </a:prstGeom>
          <a:solidFill>
            <a:srgbClr val="DE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040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11680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134"/>
                </a:solidFill>
              </a:defRPr>
            </a:pPr>
            <a:r>
              <a:t>Enterprise Client Portal &amp; Team Workspace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37BE"/>
                </a:solidFill>
              </a:defRPr>
            </a:pPr>
            <a:r>
              <a:t>From client feedback to completed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657600"/>
            <a:ext cx="1143000" cy="310896"/>
          </a:xfrm>
          <a:prstGeom prst="round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694176"/>
            <a:ext cx="1143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COLLABORATE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3657600"/>
            <a:ext cx="1005840" cy="310896"/>
          </a:xfrm>
          <a:prstGeom prst="round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3694176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ORGANIZE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657600"/>
            <a:ext cx="1005840" cy="310896"/>
          </a:xfrm>
          <a:prstGeom prst="round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694176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657600"/>
            <a:ext cx="960120" cy="310896"/>
          </a:xfrm>
          <a:prstGeom prst="round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694176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657600"/>
            <a:ext cx="1097280" cy="310896"/>
          </a:xfrm>
          <a:prstGeom prst="round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369417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ACCELERATE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417320"/>
            <a:ext cx="54864" cy="96012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563624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002536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Client • PM • Developer •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60604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2606040"/>
            <a:ext cx="54864" cy="96012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2752344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APP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191256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React + TypeScript + 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79476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94760"/>
            <a:ext cx="54864" cy="96012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941064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 +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379976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Gemini + SQLite +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9788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82"/>
                </a:solidFill>
              </a:defRPr>
            </a:pPr>
            <a:r>
              <a:t>Project presentation • 2026 • Yadhaesh27 / ClientFlow-AI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The problem ClientFlow AI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One workspace that connects client communication, delivery execution, approvals and project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" cy="1874519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836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THE OLD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22576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Email + chat + spreadsheets + file sharing + separate task tools create fragmented project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54864" cy="1874519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8836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THE CLIENTFLOW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22576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A role-aware workspace connects feedback → tasks → files → approvals → reporting in one 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54864" cy="1874519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8836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322576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Faster handoffs, clearer accountability, measurable project health and better client visibility.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233172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70248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37BE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82"/>
                </a:solidFill>
                <a:latin typeface="Aptos"/>
              </a:defRPr>
            </a:pPr>
            <a:r>
              <a:t>Core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160520"/>
            <a:ext cx="233172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4270248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B0C8"/>
                </a:solidFill>
                <a:latin typeface="Aptos Display"/>
              </a:defRPr>
            </a:pPr>
            <a:r>
              <a:t>9+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4663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82"/>
                </a:solidFill>
                <a:latin typeface="Aptos"/>
              </a:defRPr>
            </a:pPr>
            <a:r>
              <a:t>Major feature areas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4160520"/>
            <a:ext cx="233172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4270248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73CEB"/>
                </a:solidFill>
                <a:latin typeface="Aptos Display"/>
              </a:defRPr>
            </a:pPr>
            <a:r>
              <a:t>0–100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663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82"/>
                </a:solidFill>
                <a:latin typeface="Aptos"/>
              </a:defRPr>
            </a:pPr>
            <a:r>
              <a:t>Health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160520"/>
            <a:ext cx="233172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270248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A078"/>
                </a:solidFill>
                <a:latin typeface="Aptos Display"/>
              </a:defRPr>
            </a:pPr>
            <a:r>
              <a:t>1-click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63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82"/>
                </a:solidFill>
                <a:latin typeface="Aptos"/>
              </a:defRPr>
            </a:pPr>
            <a:r>
              <a:t>AI feedback → task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USERS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Designed around four real project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Each role gets a focused workspace instead of a one-size-fits-all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786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4864" cy="31546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7510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21284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View progress</a:t>
            </a:r>
            <a:br/>
            <a:r>
              <a:t>Approve deliverables</a:t>
            </a:r>
            <a:br/>
            <a:r>
              <a:t>Comment &amp; feedback</a:t>
            </a:r>
            <a:br/>
            <a:r>
              <a:t>Access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28800"/>
            <a:ext cx="25786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828800"/>
            <a:ext cx="54864" cy="31546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97510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414016"/>
            <a:ext cx="221284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Manage projects</a:t>
            </a:r>
            <a:br/>
            <a:r>
              <a:t>Assign tasks</a:t>
            </a:r>
            <a:br/>
            <a:r>
              <a:t>Track progress</a:t>
            </a:r>
            <a:br/>
            <a:r>
              <a:t>Generate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28800"/>
            <a:ext cx="25786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828800"/>
            <a:ext cx="54864" cy="31546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97510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414016"/>
            <a:ext cx="221284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Update tasks</a:t>
            </a:r>
            <a:br/>
            <a:r>
              <a:t>Upload deliverables</a:t>
            </a:r>
            <a:br/>
            <a:r>
              <a:t>Collaborate</a:t>
            </a:r>
            <a:br/>
            <a:r>
              <a:t>View assignments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828800"/>
            <a:ext cx="25786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828800"/>
            <a:ext cx="54864" cy="315468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197510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414016"/>
            <a:ext cx="221284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Manage organization</a:t>
            </a:r>
            <a:br/>
            <a:r>
              <a:t>Manage users</a:t>
            </a:r>
            <a:br/>
            <a:r>
              <a:t>System settings</a:t>
            </a:r>
            <a:br/>
            <a:r>
              <a:t>View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49240"/>
            <a:ext cx="1417320" cy="310896"/>
          </a:xfrm>
          <a:prstGeom prst="round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385816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349240"/>
            <a:ext cx="1508760" cy="310896"/>
          </a:xfrm>
          <a:prstGeom prst="round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385816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MULTI-TENANT READY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5349240"/>
            <a:ext cx="1234440" cy="310896"/>
          </a:xfrm>
          <a:prstGeom prst="round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5385816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CLIENT-FIRST 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Feature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The platform is more than a task board: it manages the full client-to-delivery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864" cy="15544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7685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Progress, files, feedback, approvals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69164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54864" cy="15544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Project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27685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Projects, health telemetry, 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69164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691640"/>
            <a:ext cx="54864" cy="15544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Kanban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27685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Statuses, priority, story points, assignments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169164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1691640"/>
            <a:ext cx="54864" cy="155448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27685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Feedback-to-ticket extraction, summaries, risks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6616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66160"/>
            <a:ext cx="54864" cy="155448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15137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Versioning, sign-offs, feedback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356616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3566160"/>
            <a:ext cx="54864" cy="15544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15137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Velocity, completion, client activity, CSAT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356616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3566160"/>
            <a:ext cx="54864" cy="155448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Executive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15137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Completion, audit, workload, financial views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07424" y="3566160"/>
            <a:ext cx="257860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7424" y="3566160"/>
            <a:ext cx="54864" cy="15544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Global 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151376"/>
            <a:ext cx="221284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Ctrl+K search, shortcuts, dark/light themes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Gemini AI feedback-to-task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Turn unstructured client language into structured engineering work — with a human PM confirmation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" cy="242316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2082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1691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“Please make the checkout faster and fix the mobile spacing.”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37BE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874519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1874519"/>
            <a:ext cx="54864" cy="242316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02082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459736"/>
            <a:ext cx="1691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Identify actionable requests, context, priority and task candidates.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73CEB"/>
                </a:solidFill>
              </a:defRPr>
            </a:pPr>
            <a: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874519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59" y="1874519"/>
            <a:ext cx="54864" cy="242316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7" y="202082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PM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7" y="2459736"/>
            <a:ext cx="1691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Project manager reviews and confirms before creating tickets.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8C32"/>
                </a:solidFill>
              </a:defRPr>
            </a:pPr>
            <a: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874519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874519"/>
            <a:ext cx="54864" cy="242316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202082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KANBAN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459736"/>
            <a:ext cx="1691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Tasks enter the project board with ownership and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A078"/>
                </a:solidFill>
              </a:defRPr>
            </a:pPr>
            <a: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874519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1874519"/>
            <a:ext cx="54864" cy="242316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30968" y="202082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8" y="2459736"/>
            <a:ext cx="1691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Completion, velocity and health metrics update the workspace.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B0C8"/>
                </a:solidFill>
              </a:defRPr>
            </a:pPr>
            <a:r>
              <a:t>05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60320" y="3063240"/>
            <a:ext cx="228600" cy="0"/>
          </a:xfrm>
          <a:prstGeom prst="line">
            <a:avLst/>
          </a:prstGeom>
          <a:ln w="25400">
            <a:solidFill>
              <a:srgbClr val="DC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92040" y="3063240"/>
            <a:ext cx="228600" cy="0"/>
          </a:xfrm>
          <a:prstGeom prst="line">
            <a:avLst/>
          </a:prstGeom>
          <a:ln w="25400">
            <a:solidFill>
              <a:srgbClr val="DC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59" y="3063240"/>
            <a:ext cx="228600" cy="0"/>
          </a:xfrm>
          <a:prstGeom prst="line">
            <a:avLst/>
          </a:prstGeom>
          <a:ln w="25400">
            <a:solidFill>
              <a:srgbClr val="DC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3063240"/>
            <a:ext cx="228600" cy="0"/>
          </a:xfrm>
          <a:prstGeom prst="line">
            <a:avLst/>
          </a:prstGeom>
          <a:ln w="25400">
            <a:solidFill>
              <a:srgbClr val="DC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434840" y="4983480"/>
            <a:ext cx="1737360" cy="310896"/>
          </a:xfrm>
          <a:prstGeom prst="round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020056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Deterministic project health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A transparent 0–100 score combines measurable delivery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960120"/>
          </a:xfrm>
          <a:prstGeom prst="roundRect">
            <a:avLst/>
          </a:prstGeom>
          <a:solidFill>
            <a:srgbClr val="EFF1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37"/>
                </a:solidFill>
                <a:latin typeface="Aptos Display"/>
              </a:defRPr>
            </a:pPr>
            <a:r>
              <a:t>Health = 0.35 × Velocity + 0.25 × Safety + 0.20 × Approvals + 0.10 × Responsiveness + 0.10 ×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260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926080"/>
            <a:ext cx="54864" cy="182880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0723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511296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35%</a:t>
            </a:r>
            <a:br/>
            <a:r>
              <a:t>Completed work / sprint 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29260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2072" y="2926080"/>
            <a:ext cx="54864" cy="182880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0723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11296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25%</a:t>
            </a:r>
            <a:br/>
            <a:r>
              <a:t>Overdue / blocked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29260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4" y="2926080"/>
            <a:ext cx="54864" cy="182880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30723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511296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20%</a:t>
            </a:r>
            <a:br/>
            <a:r>
              <a:t>Client approval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29260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2926080"/>
            <a:ext cx="54864" cy="182880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30723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4" y="3511296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10%</a:t>
            </a:r>
            <a:br/>
            <a:r>
              <a:t>Client responsiveness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65208" y="29260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65208" y="2926080"/>
            <a:ext cx="54864" cy="182880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66376" y="30723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3511296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10%</a:t>
            </a:r>
            <a:br/>
            <a:r>
              <a:t>Recent workspace activity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5166360"/>
            <a:ext cx="2560320" cy="310896"/>
          </a:xfrm>
          <a:prstGeom prst="round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5202936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EXPLAINABLE • REPEATABLE • DEMO-FRIENDLY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End-to-end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Presentation architecture showing the intended production-grade flow across users, frontend, API services, data and external integrations.</a:t>
            </a:r>
          </a:p>
        </p:txBody>
      </p:sp>
      <p:pic>
        <p:nvPicPr>
          <p:cNvPr id="8" name="Picture 7" descr="3F85C676-3257-4123-A666-38505B49D5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How the architecture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A layered design keeps UI, business logic, persistence and integrations independently evolvable.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" cy="31546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1 •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14016"/>
            <a:ext cx="1691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React + TypeScript</a:t>
            </a:r>
            <a:br/>
            <a:r>
              <a:t>Vite • Tailwind • Recharts</a:t>
            </a:r>
            <a:br/>
            <a:r>
              <a:t>Responsive client/admin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828800"/>
            <a:ext cx="54864" cy="31546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2 •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14016"/>
            <a:ext cx="1691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Routing</a:t>
            </a:r>
            <a:br/>
            <a:r>
              <a:t>JWT authentication</a:t>
            </a:r>
            <a:br/>
            <a:r>
              <a:t>Validation • rate limiting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4864" cy="315468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3 • DOMAIN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2414016"/>
            <a:ext cx="1691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Auth • Projects • Tasks</a:t>
            </a:r>
            <a:br/>
            <a:r>
              <a:t>Files • Approvals • Communication</a:t>
            </a:r>
            <a:br/>
            <a:r>
              <a:t>AI •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54864" cy="31546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4 •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414016"/>
            <a:ext cx="1691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Current repository: SQLite</a:t>
            </a:r>
            <a:br/>
            <a:r>
              <a:t>SQLAlchemy ORM</a:t>
            </a:r>
            <a:br/>
            <a:r>
              <a:t>Domain entities +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288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828800"/>
            <a:ext cx="54864" cy="315468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1975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5 • 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2414016"/>
            <a:ext cx="1691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Gemini AI</a:t>
            </a:r>
            <a:br/>
            <a:r>
              <a:t>Cloud storage</a:t>
            </a:r>
            <a:br/>
            <a:r>
              <a:t>Email / notifications</a:t>
            </a:r>
            <a:br/>
            <a:r>
              <a:t>Monitoring integrations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60320" y="3383280"/>
            <a:ext cx="228600" cy="0"/>
          </a:xfrm>
          <a:prstGeom prst="line">
            <a:avLst/>
          </a:prstGeom>
          <a:ln w="25400">
            <a:solidFill>
              <a:srgbClr val="463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92040" y="3383280"/>
            <a:ext cx="228600" cy="0"/>
          </a:xfrm>
          <a:prstGeom prst="line">
            <a:avLst/>
          </a:prstGeom>
          <a:ln w="25400">
            <a:solidFill>
              <a:srgbClr val="463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23759" y="3383280"/>
            <a:ext cx="228600" cy="0"/>
          </a:xfrm>
          <a:prstGeom prst="line">
            <a:avLst/>
          </a:prstGeom>
          <a:ln w="25400">
            <a:solidFill>
              <a:srgbClr val="463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55480" y="3383280"/>
            <a:ext cx="228600" cy="0"/>
          </a:xfrm>
          <a:prstGeom prst="line">
            <a:avLst/>
          </a:prstGeom>
          <a:ln w="25400">
            <a:solidFill>
              <a:srgbClr val="463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53492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6C82"/>
                </a:solidFill>
              </a:defRPr>
            </a:pPr>
            <a:r>
              <a:t>Note: the supplied architecture visual shows PostgreSQL / cloud deployment as a production target; the public repository currently documents SQLite for the full-stack local setup.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Selected for fast iteration, clear separation of concerns and modern web 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54864" cy="17830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2257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React 19</a:t>
            </a:r>
            <a:br/>
            <a:r>
              <a:t>TypeScript</a:t>
            </a:r>
            <a:br/>
            <a:r>
              <a:t>Vite</a:t>
            </a:r>
            <a:br/>
            <a:r>
              <a:t>Tailwind CSS v4</a:t>
            </a:r>
            <a:br/>
            <a:r>
              <a:t>Recharts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54864" cy="17830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2257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FastAPI</a:t>
            </a:r>
            <a:br/>
            <a:r>
              <a:t>Uvicorn</a:t>
            </a:r>
            <a:br/>
            <a:r>
              <a:t>Pydantic</a:t>
            </a:r>
            <a:br/>
            <a:r>
              <a:t>SQLAlchemy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7373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737360"/>
            <a:ext cx="54864" cy="17830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2257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SQLite</a:t>
            </a:r>
            <a:br/>
            <a:r>
              <a:t>Seeded demo data</a:t>
            </a:r>
            <a:br/>
            <a:r>
              <a:t>Relational domain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862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886200"/>
            <a:ext cx="54864" cy="178308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325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47141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JWT</a:t>
            </a:r>
            <a:br/>
            <a:r>
              <a:t>Password hashing</a:t>
            </a:r>
            <a:br/>
            <a:r>
              <a:t>Role-aware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862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886200"/>
            <a:ext cx="54864" cy="178308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40325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47141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Gemini API</a:t>
            </a:r>
            <a:br/>
            <a:r>
              <a:t>Feedback extraction</a:t>
            </a:r>
            <a:br/>
            <a:r>
              <a:t>Summaries / risk assistance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8862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886200"/>
            <a:ext cx="54864" cy="178308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40325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47141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Vercel</a:t>
            </a:r>
            <a:br/>
            <a:r>
              <a:t>Render / Railway</a:t>
            </a:r>
            <a:br/>
            <a:r>
              <a:t>Docker Compose 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Core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The domain model connects organizations, people, work, communication, approvals and audit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" cy="150876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7685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Tenant boundary</a:t>
            </a:r>
            <a:br/>
            <a:r>
              <a:t>Teams / workspace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9164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691640"/>
            <a:ext cx="54864" cy="150876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27685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Identity, role, auth</a:t>
            </a:r>
            <a:br/>
            <a:r>
              <a:t>Client / PM / Dev /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9164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691640"/>
            <a:ext cx="54864" cy="150876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7685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Status, progress</a:t>
            </a:r>
            <a:br/>
            <a:r>
              <a:t>Health +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69164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691640"/>
            <a:ext cx="54864" cy="150876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837944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27685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Assignee, status</a:t>
            </a:r>
            <a:br/>
            <a:r>
              <a:t>Priority, due date,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66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566160"/>
            <a:ext cx="54864" cy="150876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FILE / 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15137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Version, URL, metadata</a:t>
            </a:r>
            <a:br/>
            <a:r>
              <a:t>Approval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566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566160"/>
            <a:ext cx="54864" cy="150876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415137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Status, feedback</a:t>
            </a:r>
            <a:br/>
            <a:r>
              <a:t>Timestamp / sign-off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566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3566160"/>
            <a:ext cx="54864" cy="150876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15137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Project/user content</a:t>
            </a:r>
            <a:br/>
            <a:r>
              <a:t>Communication 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3566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704" y="3566160"/>
            <a:ext cx="54864" cy="150876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712463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ACTIVITY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4151376"/>
            <a:ext cx="2212848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Entity + action</a:t>
            </a:r>
            <a:br/>
            <a:r>
              <a:t>Timestamp / audit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Security, scalability &amp; production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The project is structured to evolve from a polished prototype toward a production SaaS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4864" cy="338328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379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76856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• JWT authentication</a:t>
            </a:r>
            <a:br/>
            <a:r>
              <a:t>• Password hashing</a:t>
            </a:r>
            <a:br/>
            <a:r>
              <a:t>• Role-based access</a:t>
            </a:r>
            <a:br/>
            <a:r>
              <a:t>• API validation</a:t>
            </a:r>
            <a:br/>
            <a:r>
              <a:t>• Audit/activity records</a:t>
            </a:r>
            <a:br/>
            <a:r>
              <a:t>• HTTPS-ready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54864" cy="33832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8379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76856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• Modular FastAPI services</a:t>
            </a:r>
            <a:br/>
            <a:r>
              <a:t>• Separate frontend/backend</a:t>
            </a:r>
            <a:br/>
            <a:r>
              <a:t>• SQLAlchemy abstraction</a:t>
            </a:r>
            <a:br/>
            <a:r>
              <a:t>• Cloud deployment path</a:t>
            </a:r>
            <a:br/>
            <a:r>
              <a:t>• External storage integration</a:t>
            </a:r>
            <a:br/>
            <a:r>
              <a:t>• Multi-tenant design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91640"/>
            <a:ext cx="54864" cy="33832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379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NEXT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76856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• PostgreSQL at scale</a:t>
            </a:r>
            <a:br/>
            <a:r>
              <a:t>• Object storage</a:t>
            </a:r>
            <a:br/>
            <a:r>
              <a:t>• CI/CD + tests</a:t>
            </a:r>
            <a:br/>
            <a:r>
              <a:t>• Observability</a:t>
            </a:r>
            <a:br/>
            <a:r>
              <a:t>• Secrets management</a:t>
            </a:r>
            <a:br/>
            <a:r>
              <a:t>• Backups &amp;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5440680"/>
            <a:ext cx="2606040" cy="310896"/>
          </a:xfrm>
          <a:prstGeom prst="round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5477256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PROTOTYPE → PRODUCTION 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Recommended live-demo storyline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A 5-minute story that proves the platform instead of just showing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54864" cy="173736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31136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Enter as Client / PM /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830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637BE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54864" cy="173736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31136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Open project → review progress → leave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7830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4B0C8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459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645920"/>
            <a:ext cx="54864" cy="173736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231136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Send feedback → extract task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7830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73CEB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49039"/>
            <a:ext cx="54864" cy="173736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KANBAN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34255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PM confirms → assign → move task through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886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A078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54864" cy="173736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334255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Upload/version deliverable → client signs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886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08C32"/>
                </a:solidFill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749039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49039"/>
            <a:ext cx="54864" cy="173736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38953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334255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Show health score → analytics → executive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3886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C465A"/>
                </a:solidFill>
              </a:defRPr>
            </a:pPr>
            <a: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0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6C82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6C82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237"/>
                </a:solidFill>
                <a:latin typeface="Aptos Display"/>
              </a:defRPr>
            </a:pPr>
            <a:r>
              <a:t>Why this project stands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C82"/>
                </a:solidFill>
                <a:latin typeface="Aptos"/>
              </a:defRPr>
            </a:pPr>
            <a:r>
              <a:t>ClientFlow AI connects product UX, workflow automation and explainable project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4864" cy="1188720"/>
          </a:xfrm>
          <a:prstGeom prst="rect">
            <a:avLst/>
          </a:prstGeom>
          <a:solidFill>
            <a:srgbClr val="46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CLIENT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854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A dedicated portal makes approvals and feedback easy.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4864" cy="118872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7465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TEAM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854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Kanban + assignments connect client requests to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108960"/>
            <a:ext cx="54864" cy="118872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55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AI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941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Gemini reduces the gap between natural language and structured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089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108960"/>
            <a:ext cx="54864" cy="118872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255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6941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Health scoring and reports turn activity into decision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617720"/>
            <a:ext cx="54864" cy="1188720"/>
          </a:xfrm>
          <a:prstGeom prst="rect">
            <a:avLst/>
          </a:prstGeom>
          <a:solidFill>
            <a:srgbClr val="F0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2029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One shared workspace reduces tool fragmentation and status chasing.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177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617720"/>
            <a:ext cx="54864" cy="1188720"/>
          </a:xfrm>
          <a:prstGeom prst="rect">
            <a:avLst/>
          </a:prstGeom>
          <a:solidFill>
            <a:srgbClr val="D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EXTENSIBILITY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52029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Modular services allow future integrations and production scaling.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5897880"/>
            <a:ext cx="2880360" cy="310896"/>
          </a:xfrm>
          <a:prstGeom prst="roundRect">
            <a:avLst/>
          </a:prstGeom>
          <a:solidFill>
            <a:srgbClr val="0C1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934456"/>
            <a:ext cx="2880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BUILD. COLLABORATE. DELIVER.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DC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01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237"/>
                </a:solidFill>
                <a:latin typeface="Aptos Display"/>
              </a:defRPr>
            </a:pPr>
            <a:r>
              <a:t>ClientFlow</a:t>
            </a:r>
            <a:r>
              <a:rPr>
                <a:solidFill>
                  <a:srgbClr val="873CEB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ClientFlow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2C8FF"/>
                </a:solidFill>
              </a:defRPr>
            </a:pPr>
            <a:r>
              <a:t>One platform. Stronger clients. Faster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063240"/>
            <a:ext cx="54864" cy="1325880"/>
          </a:xfrm>
          <a:prstGeom prst="rect">
            <a:avLst/>
          </a:prstGeom>
          <a:solidFill>
            <a:srgbClr val="24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20954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648456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Clients ↔ Teams ↔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063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3063240"/>
            <a:ext cx="54864" cy="1325880"/>
          </a:xfrm>
          <a:prstGeom prst="rect">
            <a:avLst/>
          </a:prstGeom>
          <a:solidFill>
            <a:srgbClr val="87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7" y="320954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3648456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Feedback ↔ AI ↔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063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063240"/>
            <a:ext cx="54864" cy="1325880"/>
          </a:xfrm>
          <a:prstGeom prst="rect">
            <a:avLst/>
          </a:prstGeom>
          <a:solidFill>
            <a:srgbClr val="19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320954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37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648456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6C82"/>
                </a:solidFill>
                <a:latin typeface="Aptos"/>
              </a:defRPr>
            </a:pPr>
            <a:r>
              <a:t>Health ↔ Analytics ↔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GitHub: github.com/Yadhaesh27/ClientFlow-AI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DC3FF"/>
                </a:solidFill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